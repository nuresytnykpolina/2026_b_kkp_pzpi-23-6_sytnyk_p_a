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8" r:id="rId13"/>
    <p:sldId id="267" r:id="rId14"/>
  </p:sldIdLst>
  <p:sldSz cx="9144000" cy="5143500" type="screen16x9"/>
  <p:notesSz cx="6858000" cy="9144000"/>
  <p:embeddedFontLst>
    <p:embeddedFont>
      <p:font typeface="Economica" panose="020B0604020202020204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3;n">
            <a:extLst>
              <a:ext uri="{FF2B5EF4-FFF2-40B4-BE49-F238E27FC236}">
                <a16:creationId xmlns:a16="http://schemas.microsoft.com/office/drawing/2014/main" id="{77882D70-6146-3CD6-410C-894E75EEB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Google Shape;4;n">
            <a:extLst>
              <a:ext uri="{FF2B5EF4-FFF2-40B4-BE49-F238E27FC236}">
                <a16:creationId xmlns:a16="http://schemas.microsoft.com/office/drawing/2014/main" id="{F0ED770D-2311-4432-998A-F4A5E7C859A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altLang="ru-RU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59;p:notes">
            <a:extLst>
              <a:ext uri="{FF2B5EF4-FFF2-40B4-BE49-F238E27FC236}">
                <a16:creationId xmlns:a16="http://schemas.microsoft.com/office/drawing/2014/main" id="{915D5701-3503-8D12-E5D9-348BF3D2DB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60;p:notes">
            <a:extLst>
              <a:ext uri="{FF2B5EF4-FFF2-40B4-BE49-F238E27FC236}">
                <a16:creationId xmlns:a16="http://schemas.microsoft.com/office/drawing/2014/main" id="{85114F89-606A-02C6-D93E-6DC4D9445E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68;g20ddf966691_0_162:notes">
            <a:extLst>
              <a:ext uri="{FF2B5EF4-FFF2-40B4-BE49-F238E27FC236}">
                <a16:creationId xmlns:a16="http://schemas.microsoft.com/office/drawing/2014/main" id="{E0882365-886F-14FD-C56E-CCA02A556FB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2291" name="Google Shape;69;g20ddf966691_0_162:notes">
            <a:extLst>
              <a:ext uri="{FF2B5EF4-FFF2-40B4-BE49-F238E27FC236}">
                <a16:creationId xmlns:a16="http://schemas.microsoft.com/office/drawing/2014/main" id="{BF44443F-AF48-683C-3F3F-73EAC06F9D1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75;g2e16b2adad1_0_0:notes">
            <a:extLst>
              <a:ext uri="{FF2B5EF4-FFF2-40B4-BE49-F238E27FC236}">
                <a16:creationId xmlns:a16="http://schemas.microsoft.com/office/drawing/2014/main" id="{AE2B9859-9FBA-FBCA-E454-7D7F62C6CB5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339" name="Google Shape;76;g2e16b2adad1_0_0:notes">
            <a:extLst>
              <a:ext uri="{FF2B5EF4-FFF2-40B4-BE49-F238E27FC236}">
                <a16:creationId xmlns:a16="http://schemas.microsoft.com/office/drawing/2014/main" id="{9A0764D4-28AA-17D9-A2FA-30A876CA226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82;g2e16b2adad1_0_6:notes">
            <a:extLst>
              <a:ext uri="{FF2B5EF4-FFF2-40B4-BE49-F238E27FC236}">
                <a16:creationId xmlns:a16="http://schemas.microsoft.com/office/drawing/2014/main" id="{97661768-E4BD-4D21-3D39-F0E2A8A53C7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6387" name="Google Shape;83;g2e16b2adad1_0_6:notes">
            <a:extLst>
              <a:ext uri="{FF2B5EF4-FFF2-40B4-BE49-F238E27FC236}">
                <a16:creationId xmlns:a16="http://schemas.microsoft.com/office/drawing/2014/main" id="{8792D18A-6D2B-30FC-D499-3E468A6DD87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89;g2e16b2adad1_0_12:notes">
            <a:extLst>
              <a:ext uri="{FF2B5EF4-FFF2-40B4-BE49-F238E27FC236}">
                <a16:creationId xmlns:a16="http://schemas.microsoft.com/office/drawing/2014/main" id="{32F48EF6-7879-9575-9BF1-C0BDD8F159F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0;g2e16b2adad1_0_12:notes">
            <a:extLst>
              <a:ext uri="{FF2B5EF4-FFF2-40B4-BE49-F238E27FC236}">
                <a16:creationId xmlns:a16="http://schemas.microsoft.com/office/drawing/2014/main" id="{92E9B25B-343F-8087-D049-2FE6D3B3329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96;g2e16b2adad1_0_18:notes">
            <a:extLst>
              <a:ext uri="{FF2B5EF4-FFF2-40B4-BE49-F238E27FC236}">
                <a16:creationId xmlns:a16="http://schemas.microsoft.com/office/drawing/2014/main" id="{D8D1A8B8-882C-8D51-7FA5-F24A12AF16D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0483" name="Google Shape;97;g2e16b2adad1_0_18:notes">
            <a:extLst>
              <a:ext uri="{FF2B5EF4-FFF2-40B4-BE49-F238E27FC236}">
                <a16:creationId xmlns:a16="http://schemas.microsoft.com/office/drawing/2014/main" id="{F25543CE-B084-2147-E9F6-904CE37E584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103;g2e16b2adad1_0_24:notes">
            <a:extLst>
              <a:ext uri="{FF2B5EF4-FFF2-40B4-BE49-F238E27FC236}">
                <a16:creationId xmlns:a16="http://schemas.microsoft.com/office/drawing/2014/main" id="{84FE745C-7F95-88C3-D65B-0A6D7CB2044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2531" name="Google Shape;104;g2e16b2adad1_0_24:notes">
            <a:extLst>
              <a:ext uri="{FF2B5EF4-FFF2-40B4-BE49-F238E27FC236}">
                <a16:creationId xmlns:a16="http://schemas.microsoft.com/office/drawing/2014/main" id="{A0340D08-9827-2EF8-6068-D471E0A1144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110;g2e16b2adad1_0_30:notes">
            <a:extLst>
              <a:ext uri="{FF2B5EF4-FFF2-40B4-BE49-F238E27FC236}">
                <a16:creationId xmlns:a16="http://schemas.microsoft.com/office/drawing/2014/main" id="{CB0F90A1-FED9-2426-B24C-C34C75133D9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4579" name="Google Shape;111;g2e16b2adad1_0_30:notes">
            <a:extLst>
              <a:ext uri="{FF2B5EF4-FFF2-40B4-BE49-F238E27FC236}">
                <a16:creationId xmlns:a16="http://schemas.microsoft.com/office/drawing/2014/main" id="{A573BB36-47E3-954C-CA78-71F9516391A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117;g2e16b2adad1_0_35:notes">
            <a:extLst>
              <a:ext uri="{FF2B5EF4-FFF2-40B4-BE49-F238E27FC236}">
                <a16:creationId xmlns:a16="http://schemas.microsoft.com/office/drawing/2014/main" id="{61D300CE-9EFA-D4CC-3552-7F7CEF1542B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6627" name="Google Shape;118;g2e16b2adad1_0_35:notes">
            <a:extLst>
              <a:ext uri="{FF2B5EF4-FFF2-40B4-BE49-F238E27FC236}">
                <a16:creationId xmlns:a16="http://schemas.microsoft.com/office/drawing/2014/main" id="{2DDF180A-3DB3-3D13-A2A1-BBA8C4AD60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54E7798-4D7A-F0E1-3CFF-4A1F6BAE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117;g2e16b2adad1_0_35:notes">
            <a:extLst>
              <a:ext uri="{FF2B5EF4-FFF2-40B4-BE49-F238E27FC236}">
                <a16:creationId xmlns:a16="http://schemas.microsoft.com/office/drawing/2014/main" id="{4E3CE59D-9720-5503-9A1F-49B21F58575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6627" name="Google Shape;118;g2e16b2adad1_0_35:notes">
            <a:extLst>
              <a:ext uri="{FF2B5EF4-FFF2-40B4-BE49-F238E27FC236}">
                <a16:creationId xmlns:a16="http://schemas.microsoft.com/office/drawing/2014/main" id="{15D933C1-CE4F-CAFC-C23F-58C10150808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41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124;g2e16b2adad1_0_40:notes">
            <a:extLst>
              <a:ext uri="{FF2B5EF4-FFF2-40B4-BE49-F238E27FC236}">
                <a16:creationId xmlns:a16="http://schemas.microsoft.com/office/drawing/2014/main" id="{D8F351AE-167B-D58F-9F0B-EC4DCDC9127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8675" name="Google Shape;125;g2e16b2adad1_0_40:notes">
            <a:extLst>
              <a:ext uri="{FF2B5EF4-FFF2-40B4-BE49-F238E27FC236}">
                <a16:creationId xmlns:a16="http://schemas.microsoft.com/office/drawing/2014/main" id="{594D754D-44BC-D4D0-65D5-E46FCAAF59E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124;g2e16b2adad1_0_40:notes">
            <a:extLst>
              <a:ext uri="{FF2B5EF4-FFF2-40B4-BE49-F238E27FC236}">
                <a16:creationId xmlns:a16="http://schemas.microsoft.com/office/drawing/2014/main" id="{FC21C534-2561-F326-0B82-58217EEF6E2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0723" name="Google Shape;125;g2e16b2adad1_0_40:notes">
            <a:extLst>
              <a:ext uri="{FF2B5EF4-FFF2-40B4-BE49-F238E27FC236}">
                <a16:creationId xmlns:a16="http://schemas.microsoft.com/office/drawing/2014/main" id="{56ED31BD-4315-034E-D50B-B645EE20F2F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138;g2e16b2adad1_0_50:notes">
            <a:extLst>
              <a:ext uri="{FF2B5EF4-FFF2-40B4-BE49-F238E27FC236}">
                <a16:creationId xmlns:a16="http://schemas.microsoft.com/office/drawing/2014/main" id="{68573EBC-C410-4DF2-44EC-8EDA9B22DE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2771" name="Google Shape;139;g2e16b2adad1_0_50:notes">
            <a:extLst>
              <a:ext uri="{FF2B5EF4-FFF2-40B4-BE49-F238E27FC236}">
                <a16:creationId xmlns:a16="http://schemas.microsoft.com/office/drawing/2014/main" id="{98DED2C6-E645-5D20-1590-730BF195215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ru-RU" altLang="ru-RU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3E79F32B-779D-BC6D-1453-8646EB74E16B}"/>
              </a:ext>
            </a:extLst>
          </p:cNvPr>
          <p:cNvSpPr>
            <a:spLocks/>
          </p:cNvSpPr>
          <p:nvPr/>
        </p:nvSpPr>
        <p:spPr bwMode="auto">
          <a:xfrm>
            <a:off x="2744788" y="757238"/>
            <a:ext cx="1081087" cy="1123950"/>
          </a:xfrm>
          <a:custGeom>
            <a:avLst/>
            <a:gdLst>
              <a:gd name="T0" fmla="*/ 0 w 43265"/>
              <a:gd name="T1" fmla="*/ 44998 h 44998"/>
              <a:gd name="T2" fmla="*/ 0 w 43265"/>
              <a:gd name="T3" fmla="*/ 0 h 44998"/>
              <a:gd name="T4" fmla="*/ 43265 w 43265"/>
              <a:gd name="T5" fmla="*/ 0 h 44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miter lim="8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" name="Google Shape;11;p2">
            <a:extLst>
              <a:ext uri="{FF2B5EF4-FFF2-40B4-BE49-F238E27FC236}">
                <a16:creationId xmlns:a16="http://schemas.microsoft.com/office/drawing/2014/main" id="{1F3CAA30-2B8F-CE5D-9AEB-EA28157B1B34}"/>
              </a:ext>
            </a:extLst>
          </p:cNvPr>
          <p:cNvSpPr>
            <a:spLocks/>
          </p:cNvSpPr>
          <p:nvPr/>
        </p:nvSpPr>
        <p:spPr bwMode="auto">
          <a:xfrm rot="10800000">
            <a:off x="5318125" y="3267075"/>
            <a:ext cx="1081088" cy="1123950"/>
          </a:xfrm>
          <a:custGeom>
            <a:avLst/>
            <a:gdLst>
              <a:gd name="T0" fmla="*/ 0 w 43265"/>
              <a:gd name="T1" fmla="*/ 44998 h 44998"/>
              <a:gd name="T2" fmla="*/ 0 w 43265"/>
              <a:gd name="T3" fmla="*/ 0 h 44998"/>
              <a:gd name="T4" fmla="*/ 43265 w 43265"/>
              <a:gd name="T5" fmla="*/ 0 h 44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miter lim="8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Google Shape;14;p2">
            <a:extLst>
              <a:ext uri="{FF2B5EF4-FFF2-40B4-BE49-F238E27FC236}">
                <a16:creationId xmlns:a16="http://schemas.microsoft.com/office/drawing/2014/main" id="{B4B6E8FC-773F-41AC-930B-E8E0A863232B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9CD1323-1DA4-45FC-8097-F11E78AB945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2248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3">
            <a:extLst>
              <a:ext uri="{FF2B5EF4-FFF2-40B4-BE49-F238E27FC236}">
                <a16:creationId xmlns:a16="http://schemas.microsoft.com/office/drawing/2014/main" id="{689C6F57-5560-7A33-9441-FB713044D805}"/>
              </a:ext>
            </a:extLst>
          </p:cNvPr>
          <p:cNvSpPr>
            <a:spLocks/>
          </p:cNvSpPr>
          <p:nvPr/>
        </p:nvSpPr>
        <p:spPr bwMode="auto">
          <a:xfrm flipH="1">
            <a:off x="7596188" y="460375"/>
            <a:ext cx="1081087" cy="1125538"/>
          </a:xfrm>
          <a:custGeom>
            <a:avLst/>
            <a:gdLst>
              <a:gd name="T0" fmla="*/ 0 w 43265"/>
              <a:gd name="T1" fmla="*/ 44998 h 44998"/>
              <a:gd name="T2" fmla="*/ 0 w 43265"/>
              <a:gd name="T3" fmla="*/ 0 h 44998"/>
              <a:gd name="T4" fmla="*/ 43265 w 43265"/>
              <a:gd name="T5" fmla="*/ 0 h 44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miter lim="8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" name="Google Shape;17;p3">
            <a:extLst>
              <a:ext uri="{FF2B5EF4-FFF2-40B4-BE49-F238E27FC236}">
                <a16:creationId xmlns:a16="http://schemas.microsoft.com/office/drawing/2014/main" id="{69C53F04-84F3-D8B1-B88A-8ED01397CF0B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466725" y="3557588"/>
            <a:ext cx="1081088" cy="1125537"/>
          </a:xfrm>
          <a:custGeom>
            <a:avLst/>
            <a:gdLst>
              <a:gd name="T0" fmla="*/ 0 w 43265"/>
              <a:gd name="T1" fmla="*/ 44998 h 44998"/>
              <a:gd name="T2" fmla="*/ 0 w 43265"/>
              <a:gd name="T3" fmla="*/ 0 h 44998"/>
              <a:gd name="T4" fmla="*/ 43265 w 43265"/>
              <a:gd name="T5" fmla="*/ 0 h 44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miter lim="8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" name="Google Shape;19;p3">
            <a:extLst>
              <a:ext uri="{FF2B5EF4-FFF2-40B4-BE49-F238E27FC236}">
                <a16:creationId xmlns:a16="http://schemas.microsoft.com/office/drawing/2014/main" id="{B796C16C-BB68-1A1D-2AC6-6E7725E44B4A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5724229-D12D-4B9C-8B2F-0153F1342C9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1937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4">
            <a:extLst>
              <a:ext uri="{FF2B5EF4-FFF2-40B4-BE49-F238E27FC236}">
                <a16:creationId xmlns:a16="http://schemas.microsoft.com/office/drawing/2014/main" id="{58C0D22E-4EEF-34C8-CE59-DF7BB8F41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45075"/>
            <a:ext cx="9144000" cy="9842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4B23BA2C-D6AE-1ED8-2ABB-4A053538056A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EC3B88B-A3B4-4911-AD2D-69B602DE996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0590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4152D0F2-A10F-6920-76B1-81F02AFABA70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1E60A-1748-4ECD-84B9-A94424384AE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9763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7816416E-1D43-76C2-330C-F023CCD2D860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0DE622-499D-49AB-91C7-0FA2BB8E07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7806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932B4B4-3ED4-7CEA-460A-4DECC963688C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3B1C1C-FF94-4B6D-83A0-D93F91F3FD5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4573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;p8">
            <a:extLst>
              <a:ext uri="{FF2B5EF4-FFF2-40B4-BE49-F238E27FC236}">
                <a16:creationId xmlns:a16="http://schemas.microsoft.com/office/drawing/2014/main" id="{204ECD79-409E-9AB1-0056-2EE2C4E77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45075"/>
            <a:ext cx="9144000" cy="9842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Google Shape;40;p8">
            <a:extLst>
              <a:ext uri="{FF2B5EF4-FFF2-40B4-BE49-F238E27FC236}">
                <a16:creationId xmlns:a16="http://schemas.microsoft.com/office/drawing/2014/main" id="{16CF6351-A0D0-B4C9-2BDD-FFFC09A91A37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68B86D3-9B27-4239-A503-16A6D009749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7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2;p9">
            <a:extLst>
              <a:ext uri="{FF2B5EF4-FFF2-40B4-BE49-F238E27FC236}">
                <a16:creationId xmlns:a16="http://schemas.microsoft.com/office/drawing/2014/main" id="{CAE3460D-97E8-5B87-E17E-E25CBBFD0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cxnSp>
        <p:nvCxnSpPr>
          <p:cNvPr id="3" name="Google Shape;43;p9">
            <a:extLst>
              <a:ext uri="{FF2B5EF4-FFF2-40B4-BE49-F238E27FC236}">
                <a16:creationId xmlns:a16="http://schemas.microsoft.com/office/drawing/2014/main" id="{E849F0F0-AB96-9923-2678-C5E5345D9D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29200" y="4495800"/>
            <a:ext cx="468313" cy="0"/>
          </a:xfrm>
          <a:prstGeom prst="straightConnector1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Google Shape;47;p9">
            <a:extLst>
              <a:ext uri="{FF2B5EF4-FFF2-40B4-BE49-F238E27FC236}">
                <a16:creationId xmlns:a16="http://schemas.microsoft.com/office/drawing/2014/main" id="{B38507B7-B8F3-FA91-75AC-D4698781DFA3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2B7E086-752A-4DF0-8109-6505A1D5EC1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3396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46FFFF1B-69AE-56F0-E2E4-89676A542506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7AECA6-7DDB-48E4-99D2-6AC4680C1D4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109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11">
            <a:extLst>
              <a:ext uri="{FF2B5EF4-FFF2-40B4-BE49-F238E27FC236}">
                <a16:creationId xmlns:a16="http://schemas.microsoft.com/office/drawing/2014/main" id="{7A79E600-4618-7BD9-3D45-4813117A4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45075"/>
            <a:ext cx="9144000" cy="9842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Google Shape;55;p11">
            <a:extLst>
              <a:ext uri="{FF2B5EF4-FFF2-40B4-BE49-F238E27FC236}">
                <a16:creationId xmlns:a16="http://schemas.microsoft.com/office/drawing/2014/main" id="{1CFEB802-EFE2-0BD1-37A0-7EA0E3C2FDBC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3CE067DE-D2D4-47AC-86C0-8BA82073BE1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1471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>
            <a:extLst>
              <a:ext uri="{FF2B5EF4-FFF2-40B4-BE49-F238E27FC236}">
                <a16:creationId xmlns:a16="http://schemas.microsoft.com/office/drawing/2014/main" id="{341ABFFE-FAB3-E313-056E-81777B829D5B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963B08-B414-48E8-92AA-9D61CF7E635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0639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>
            <a:extLst>
              <a:ext uri="{FF2B5EF4-FFF2-40B4-BE49-F238E27FC236}">
                <a16:creationId xmlns:a16="http://schemas.microsoft.com/office/drawing/2014/main" id="{18C90B81-3D1A-900B-3CB0-1B4C9DB5FB1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11150" y="315913"/>
            <a:ext cx="8521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/>
          <a:p>
            <a:pPr lvl="0"/>
            <a:endParaRPr lang="ru-RU" altLang="ru-RU">
              <a:sym typeface="Arial" panose="020B0604020202020204" pitchFamily="34" charset="0"/>
            </a:endParaRPr>
          </a:p>
        </p:txBody>
      </p:sp>
      <p:sp>
        <p:nvSpPr>
          <p:cNvPr id="1027" name="Google Shape;7;p1">
            <a:extLst>
              <a:ext uri="{FF2B5EF4-FFF2-40B4-BE49-F238E27FC236}">
                <a16:creationId xmlns:a16="http://schemas.microsoft.com/office/drawing/2014/main" id="{7F8BB2EB-32FE-5BF4-2A29-9F489AB15B4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11150" y="1225550"/>
            <a:ext cx="8521700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altLang="ru-RU">
              <a:sym typeface="Arial" panose="020B0604020202020204" pitchFamily="34" charset="0"/>
            </a:endParaRPr>
          </a:p>
        </p:txBody>
      </p:sp>
      <p:sp>
        <p:nvSpPr>
          <p:cNvPr id="1028" name="Google Shape;8;p1">
            <a:extLst>
              <a:ext uri="{FF2B5EF4-FFF2-40B4-BE49-F238E27FC236}">
                <a16:creationId xmlns:a16="http://schemas.microsoft.com/office/drawing/2014/main" id="{61CDB6DF-1D27-AA04-7353-57AAD53184B8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000">
                <a:latin typeface="Economica" charset="0"/>
                <a:cs typeface="Economica" charset="0"/>
                <a:sym typeface="Economica" charset="0"/>
              </a:defRPr>
            </a:lvl1pPr>
          </a:lstStyle>
          <a:p>
            <a:fld id="{809FFF5C-7B59-479E-A3D7-0053885BB2EE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66" r:id="rId4"/>
    <p:sldLayoutId id="2147483667" r:id="rId5"/>
    <p:sldLayoutId id="2147483668" r:id="rId6"/>
    <p:sldLayoutId id="2147483674" r:id="rId7"/>
    <p:sldLayoutId id="2147483675" r:id="rId8"/>
    <p:sldLayoutId id="2147483669" r:id="rId9"/>
    <p:sldLayoutId id="2147483676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fontAlgn="base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62;p13">
            <a:extLst>
              <a:ext uri="{FF2B5EF4-FFF2-40B4-BE49-F238E27FC236}">
                <a16:creationId xmlns:a16="http://schemas.microsoft.com/office/drawing/2014/main" id="{DCAE3AFC-0648-E218-0D03-F049B1A29831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2932113" y="833438"/>
            <a:ext cx="3279775" cy="1165225"/>
          </a:xfrm>
        </p:spPr>
        <p:txBody>
          <a:bodyPr>
            <a:normAutofit fontScale="90000"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2400">
                <a:latin typeface="Economica" charset="0"/>
                <a:cs typeface="Economica" charset="0"/>
                <a:sym typeface="Economica" charset="0"/>
              </a:rPr>
              <a:t>Вебплатформа дистанційної оренди речей</a:t>
            </a:r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5B8126EB-7B3E-EE7A-A6A4-EA2BB1A6E0F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5438" y="3440113"/>
            <a:ext cx="5087937" cy="153193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endParaRPr lang="ru-RU" altLang="ru-RU" sz="1900">
              <a:latin typeface="Economica" charset="0"/>
              <a:cs typeface="Economica" charset="0"/>
              <a:sym typeface="Economica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1300">
                <a:latin typeface="Economica" charset="0"/>
                <a:cs typeface="Economica" charset="0"/>
                <a:sym typeface="Economica" charset="0"/>
              </a:rPr>
              <a:t>Ситник Пол</a:t>
            </a:r>
            <a:r>
              <a:rPr lang="uk-UA" altLang="ru-RU" sz="1300">
                <a:latin typeface="Economica" charset="0"/>
                <a:cs typeface="Economica" charset="0"/>
                <a:sym typeface="Economica" charset="0"/>
              </a:rPr>
              <a:t>іна Андріївна ПЗПІ-23-6</a:t>
            </a:r>
            <a:endParaRPr lang="ru-RU" altLang="ru-RU" sz="1300">
              <a:latin typeface="Economica" charset="0"/>
              <a:cs typeface="Economica" charset="0"/>
              <a:sym typeface="Economica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1300">
                <a:latin typeface="Economica" charset="0"/>
                <a:cs typeface="Economica" charset="0"/>
                <a:sym typeface="Economica" charset="0"/>
              </a:rPr>
              <a:t>Керівник: </a:t>
            </a:r>
            <a:r>
              <a:rPr lang="uk-UA" altLang="ru-RU" sz="1300">
                <a:latin typeface="Economica" charset="0"/>
                <a:cs typeface="Economica" charset="0"/>
                <a:sym typeface="Economica" charset="0"/>
              </a:rPr>
              <a:t>доцент кафедри ПІ Лещинська Ірина Олександрівна</a:t>
            </a:r>
            <a:endParaRPr lang="ru-RU" altLang="ru-RU" sz="1300">
              <a:latin typeface="Economica" charset="0"/>
              <a:cs typeface="Economica" charset="0"/>
              <a:sym typeface="Economica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endParaRPr lang="ru-RU" altLang="ru-RU" sz="1300">
              <a:latin typeface="Economica" charset="0"/>
              <a:cs typeface="Economica" charset="0"/>
              <a:sym typeface="Economica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endParaRPr lang="ru-RU" altLang="ru-RU" sz="1900">
              <a:latin typeface="Economica" charset="0"/>
              <a:cs typeface="Economica" charset="0"/>
              <a:sym typeface="Economica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1600">
                <a:latin typeface="Economica" charset="0"/>
                <a:cs typeface="Economica" charset="0"/>
                <a:sym typeface="Economica" charset="0"/>
              </a:rPr>
              <a:t>01 червня 2026</a:t>
            </a:r>
          </a:p>
        </p:txBody>
      </p:sp>
      <p:pic>
        <p:nvPicPr>
          <p:cNvPr id="9220" name="Google Shape;64;p13">
            <a:extLst>
              <a:ext uri="{FF2B5EF4-FFF2-40B4-BE49-F238E27FC236}">
                <a16:creationId xmlns:a16="http://schemas.microsoft.com/office/drawing/2014/main" id="{8F7D2516-3879-3B02-251A-F3ED71D19BE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Google Shape;65;p13">
            <a:extLst>
              <a:ext uri="{FF2B5EF4-FFF2-40B4-BE49-F238E27FC236}">
                <a16:creationId xmlns:a16="http://schemas.microsoft.com/office/drawing/2014/main" id="{5C107096-6426-F252-AFAB-DE93813DF6A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171450"/>
            <a:ext cx="2133600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Google Shape;66;p13">
            <a:extLst>
              <a:ext uri="{FF2B5EF4-FFF2-40B4-BE49-F238E27FC236}">
                <a16:creationId xmlns:a16="http://schemas.microsoft.com/office/drawing/2014/main" id="{2F3E63AB-0020-14DC-22AB-6FDBE70C959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138" y="171450"/>
            <a:ext cx="19240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71;p14">
            <a:extLst>
              <a:ext uri="{FF2B5EF4-FFF2-40B4-BE49-F238E27FC236}">
                <a16:creationId xmlns:a16="http://schemas.microsoft.com/office/drawing/2014/main" id="{1C9A30ED-17AB-EFCE-D08E-3C610AEB7C1C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11150" y="0"/>
            <a:ext cx="8521700" cy="83185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>
                <a:latin typeface="Economica" charset="0"/>
                <a:cs typeface="Economica" charset="0"/>
                <a:sym typeface="Economica" charset="0"/>
              </a:rPr>
              <a:t>Мета роботи</a:t>
            </a: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925F5278-7C51-C46E-6A5C-F5499E9E9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150" y="1225550"/>
            <a:ext cx="8521700" cy="3354388"/>
          </a:xfrm>
        </p:spPr>
        <p:txBody>
          <a:bodyPr/>
          <a:lstStyle/>
          <a:p>
            <a:pPr marL="114300" indent="0">
              <a:buNone/>
            </a:pP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Мета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проєкту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розробка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вебплатформи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дистанційної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оренди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речей для перегляду каталогу,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реєстрації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користувачів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фільтрації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предметів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оформлення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оренди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через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вебінтерфейс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endParaRPr lang="ru-RU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Актуальність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роботи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пов’язана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зі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зростанням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попиту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сервіси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тимчасового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користування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речами та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необхідністю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автоматизації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процесу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оренди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й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взаємодії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між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користувачами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11430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Open Sans" panose="020B0606030504020204" pitchFamily="34" charset="0"/>
              <a:buNone/>
            </a:pPr>
            <a:endParaRPr lang="ru-RU" altLang="ru-RU" sz="1800" dirty="0">
              <a:latin typeface="Economica" charset="0"/>
              <a:cs typeface="Arial" panose="020B0604020202020204" pitchFamily="34" charset="0"/>
              <a:sym typeface="Open Sans" panose="020B0606030504020204" pitchFamily="34" charset="0"/>
            </a:endParaRPr>
          </a:p>
        </p:txBody>
      </p:sp>
      <p:pic>
        <p:nvPicPr>
          <p:cNvPr id="11268" name="Google Shape;73;p14">
            <a:extLst>
              <a:ext uri="{FF2B5EF4-FFF2-40B4-BE49-F238E27FC236}">
                <a16:creationId xmlns:a16="http://schemas.microsoft.com/office/drawing/2014/main" id="{57F580B5-604A-7F85-5463-B4645FB533A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TextBox 1">
            <a:extLst>
              <a:ext uri="{FF2B5EF4-FFF2-40B4-BE49-F238E27FC236}">
                <a16:creationId xmlns:a16="http://schemas.microsoft.com/office/drawing/2014/main" id="{04E048CF-AB17-5BE7-457D-4E44A75EC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7E2B9CB6-262D-431F-8155-EAAEAD11B6AE}" type="slidenum">
              <a:rPr lang="uk-UA" altLang="ru-RU"/>
              <a:pPr eaLnBrk="1" hangingPunct="1"/>
              <a:t>2</a:t>
            </a:fld>
            <a:endParaRPr lang="uk-UA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78;p15">
            <a:extLst>
              <a:ext uri="{FF2B5EF4-FFF2-40B4-BE49-F238E27FC236}">
                <a16:creationId xmlns:a16="http://schemas.microsoft.com/office/drawing/2014/main" id="{F2DDC3D5-B641-2849-1FCC-024E4779A1C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11150" y="-125413"/>
            <a:ext cx="8521700" cy="831851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>
                <a:latin typeface="Economica" charset="0"/>
                <a:cs typeface="Economica" charset="0"/>
                <a:sym typeface="Economica" charset="0"/>
              </a:rPr>
              <a:t>Аналіз проблеми (аналіз існуючих рішень) </a:t>
            </a: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857C4DED-950C-164D-2095-3FDF7321B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114300" indent="0" fontAlgn="auto">
              <a:lnSpc>
                <a:spcPct val="115000"/>
              </a:lnSpc>
              <a:buClr>
                <a:schemeClr val="dk1"/>
              </a:buClr>
              <a:buFont typeface="Open Sans"/>
              <a:buNone/>
              <a:defRPr/>
            </a:pP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Досліджені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аналоги: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платформи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електронної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комерції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оренди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OLX, Prom.ua, Airbnb);</a:t>
            </a:r>
            <a:b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вебсервіси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для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розміщення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товарів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і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короткострокового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користування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речами;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системи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онлайн-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бронювання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керування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замовленнями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114300" indent="0" fontAlgn="auto">
              <a:lnSpc>
                <a:spcPct val="115000"/>
              </a:lnSpc>
              <a:buClr>
                <a:schemeClr val="dk1"/>
              </a:buClr>
              <a:buFont typeface="Open Sans"/>
              <a:buNone/>
              <a:defRPr/>
            </a:pPr>
            <a:endParaRPr lang="ru-RU" sz="1800" dirty="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114300" indent="0" fontAlgn="auto">
              <a:lnSpc>
                <a:spcPct val="115000"/>
              </a:lnSpc>
              <a:buClr>
                <a:schemeClr val="dk1"/>
              </a:buClr>
              <a:buFont typeface="Open Sans"/>
              <a:buNone/>
              <a:defRPr/>
            </a:pP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Виявлені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проблеми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існуючих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рішень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: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відсутність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спеціалізованої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системи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дистанційної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оренди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речей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із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перевіркою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доступності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на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вибраний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період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;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обмежені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можливості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фільтрації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категоризації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швидкого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пошуку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предметів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;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недостатньо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зручний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механізм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взаємодії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між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клієнтом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орендодавцем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;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відсутність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централізованого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контролю статусу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оренди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управління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оголошеннями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0" indent="0" fontAlgn="auto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Clr>
                <a:schemeClr val="dk1"/>
              </a:buClr>
              <a:buFont typeface="Open Sans"/>
              <a:buNone/>
              <a:defRPr/>
            </a:pP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316" name="Google Shape;80;p15">
            <a:extLst>
              <a:ext uri="{FF2B5EF4-FFF2-40B4-BE49-F238E27FC236}">
                <a16:creationId xmlns:a16="http://schemas.microsoft.com/office/drawing/2014/main" id="{B26F2EC8-38C1-51E5-6465-000E75F20C0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1">
            <a:extLst>
              <a:ext uri="{FF2B5EF4-FFF2-40B4-BE49-F238E27FC236}">
                <a16:creationId xmlns:a16="http://schemas.microsoft.com/office/drawing/2014/main" id="{8E464727-60B2-D281-2588-F8C24CDFF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BFBCAEF6-5D4A-479D-8060-49F16E166681}" type="slidenum">
              <a:rPr lang="uk-UA" altLang="ru-RU"/>
              <a:pPr eaLnBrk="1" hangingPunct="1"/>
              <a:t>3</a:t>
            </a:fld>
            <a:endParaRPr lang="uk-UA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85;p16">
            <a:extLst>
              <a:ext uri="{FF2B5EF4-FFF2-40B4-BE49-F238E27FC236}">
                <a16:creationId xmlns:a16="http://schemas.microsoft.com/office/drawing/2014/main" id="{062BA248-453D-3008-F6A8-41B5B3E4BF4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11150" y="-185738"/>
            <a:ext cx="8521700" cy="8302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>
                <a:latin typeface="Economica" charset="0"/>
                <a:cs typeface="Economica" charset="0"/>
                <a:sym typeface="Economica" charset="0"/>
              </a:rPr>
              <a:t>Постановка задачі та опис системи</a:t>
            </a: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30DC0796-ED1C-351F-C350-E2E2EF0DD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05500"/>
            <a:ext cx="8520600" cy="3354000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15000"/>
              </a:lnSpc>
              <a:spcBef>
                <a:spcPts val="1500"/>
              </a:spcBef>
              <a:buClr>
                <a:schemeClr val="dk1"/>
              </a:buClr>
              <a:buFont typeface="Open Sans"/>
              <a:buNone/>
              <a:defRPr/>
            </a:pP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Метою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проєкту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є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розробка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вебплатформи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дистанційної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оренди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речей. Система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забезпечує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реєстрацію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користувачів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перегляд каталогу,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фільтрацію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предметів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оформлення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оренди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Результатом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роботи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є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вебзастосунок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із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зручним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інтерфейсом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підтримкою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взаємодії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з базою </a:t>
            </a:r>
            <a:r>
              <a:rPr lang="ru-RU" sz="1800" dirty="0" err="1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lang="ru-RU" sz="1800" dirty="0"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sz="180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pic>
        <p:nvPicPr>
          <p:cNvPr id="15364" name="Google Shape;87;p16">
            <a:extLst>
              <a:ext uri="{FF2B5EF4-FFF2-40B4-BE49-F238E27FC236}">
                <a16:creationId xmlns:a16="http://schemas.microsoft.com/office/drawing/2014/main" id="{BC0B76BF-6665-BEB1-679E-516F0DF1A77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Box 1">
            <a:extLst>
              <a:ext uri="{FF2B5EF4-FFF2-40B4-BE49-F238E27FC236}">
                <a16:creationId xmlns:a16="http://schemas.microsoft.com/office/drawing/2014/main" id="{CEBADEF3-49AA-0B53-F9D5-238B38AE6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42CA4E78-6C3D-4F19-94C3-EEBC56DE4DD0}" type="slidenum">
              <a:rPr lang="uk-UA" altLang="ru-RU"/>
              <a:pPr eaLnBrk="1" hangingPunct="1"/>
              <a:t>4</a:t>
            </a:fld>
            <a:endParaRPr lang="uk-UA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2;p17">
            <a:extLst>
              <a:ext uri="{FF2B5EF4-FFF2-40B4-BE49-F238E27FC236}">
                <a16:creationId xmlns:a16="http://schemas.microsoft.com/office/drawing/2014/main" id="{1B2A1C51-894A-A2EA-F557-1830C52D86C5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11150" y="201613"/>
            <a:ext cx="8521700" cy="83185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>
                <a:latin typeface="Economica" charset="0"/>
                <a:cs typeface="Economica" charset="0"/>
                <a:sym typeface="Economica" charset="0"/>
              </a:rPr>
              <a:t>Вибір технологій розробки </a:t>
            </a:r>
          </a:p>
        </p:txBody>
      </p:sp>
      <p:sp>
        <p:nvSpPr>
          <p:cNvPr id="93" name="Google Shape;93;p17">
            <a:extLst>
              <a:ext uri="{FF2B5EF4-FFF2-40B4-BE49-F238E27FC236}">
                <a16:creationId xmlns:a16="http://schemas.microsoft.com/office/drawing/2014/main" id="{BBB94A2C-821D-2321-7C3E-BA8ACE7E0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fontAlgn="auto">
              <a:lnSpc>
                <a:spcPct val="115000"/>
              </a:lnSpc>
              <a:spcBef>
                <a:spcPts val="1500"/>
              </a:spcBef>
              <a:buClr>
                <a:schemeClr val="dk1"/>
              </a:buClr>
              <a:buFont typeface="Open Sans"/>
              <a:buNone/>
              <a:defRPr/>
            </a:pP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Для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реалізації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вебплатформи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дистанційної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оренди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речей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було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використано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ASP.NET Core MVC 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та мову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програмування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C#,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що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дозволяють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організувати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логіку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застосунку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взаємодію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між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компонентами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системи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 Для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роботи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з базою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даних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застосовано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Entity Framework Core 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та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SQL Server, 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інтерфейс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користувача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реалізовано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за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допомогою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Razor Views, HTML 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та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CSS.</a:t>
            </a:r>
            <a:endParaRPr sz="1800" dirty="0">
              <a:solidFill>
                <a:schemeClr val="dk1"/>
              </a:solidFill>
              <a:latin typeface="Economica" panose="020B0604020202020204" charset="0"/>
              <a:ea typeface="Open Sans"/>
              <a:cs typeface="Open Sans"/>
              <a:sym typeface="Open Sans"/>
            </a:endParaRPr>
          </a:p>
        </p:txBody>
      </p:sp>
      <p:pic>
        <p:nvPicPr>
          <p:cNvPr id="17412" name="Google Shape;94;p17">
            <a:extLst>
              <a:ext uri="{FF2B5EF4-FFF2-40B4-BE49-F238E27FC236}">
                <a16:creationId xmlns:a16="http://schemas.microsoft.com/office/drawing/2014/main" id="{806C352A-70EB-8A00-B6E6-916883949F6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Box 1">
            <a:extLst>
              <a:ext uri="{FF2B5EF4-FFF2-40B4-BE49-F238E27FC236}">
                <a16:creationId xmlns:a16="http://schemas.microsoft.com/office/drawing/2014/main" id="{E6DB886D-C6E4-E782-3E35-2D5C189E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018B03DA-B84A-4B98-9432-FFFB1B0CD474}" type="slidenum">
              <a:rPr lang="uk-UA" altLang="ru-RU"/>
              <a:pPr eaLnBrk="1" hangingPunct="1"/>
              <a:t>5</a:t>
            </a:fld>
            <a:endParaRPr lang="uk-UA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99;p18">
            <a:extLst>
              <a:ext uri="{FF2B5EF4-FFF2-40B4-BE49-F238E27FC236}">
                <a16:creationId xmlns:a16="http://schemas.microsoft.com/office/drawing/2014/main" id="{0AB82239-EDBD-E80B-51FE-42FB3E3EF7E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68288" y="349250"/>
            <a:ext cx="8521700" cy="831850"/>
          </a:xfrm>
        </p:spPr>
        <p:txBody>
          <a:bodyPr>
            <a:normAutofit fontScale="90000"/>
          </a:bodyPr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>
                <a:latin typeface="Economica" charset="0"/>
                <a:cs typeface="Economica" charset="0"/>
                <a:sym typeface="Economica" charset="0"/>
              </a:rPr>
              <a:t>Архітектура створенного програмного забезпечення</a:t>
            </a:r>
          </a:p>
        </p:txBody>
      </p:sp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614C644F-6D45-7E21-FF10-D3B520521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53900"/>
            <a:ext cx="8520600" cy="3125400"/>
          </a:xfrm>
        </p:spPr>
        <p:txBody>
          <a:bodyPr>
            <a:normAutofit lnSpcReduction="10000"/>
          </a:bodyPr>
          <a:lstStyle/>
          <a:p>
            <a:pPr fontAlgn="auto">
              <a:lnSpc>
                <a:spcPct val="115000"/>
              </a:lnSpc>
              <a:buClr>
                <a:schemeClr val="dk1"/>
              </a:buClr>
              <a:buFont typeface="Open Sans"/>
              <a:buChar char="●"/>
              <a:defRPr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ASP.NET Core MVC: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розділення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логіки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системи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на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моделі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представлення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контролери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fontAlgn="auto">
              <a:lnSpc>
                <a:spcPct val="115000"/>
              </a:lnSpc>
              <a:buClr>
                <a:schemeClr val="dk1"/>
              </a:buClr>
              <a:buFont typeface="Open Sans"/>
              <a:buChar char="●"/>
              <a:defRPr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Entity Framework Core: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взаємодія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із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базою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даних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виконання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CRUD-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операцій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fontAlgn="auto">
              <a:lnSpc>
                <a:spcPct val="115000"/>
              </a:lnSpc>
              <a:buClr>
                <a:schemeClr val="dk1"/>
              </a:buClr>
              <a:buFont typeface="Open Sans"/>
              <a:buChar char="●"/>
              <a:defRPr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SQL Server: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зберігання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інформації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про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користувачів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речі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оренди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ролі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fontAlgn="auto">
              <a:lnSpc>
                <a:spcPct val="115000"/>
              </a:lnSpc>
              <a:buClr>
                <a:schemeClr val="dk1"/>
              </a:buClr>
              <a:buFont typeface="Open Sans"/>
              <a:buChar char="●"/>
              <a:defRPr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Session: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керування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авторизацією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користувачів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доступом до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функціоналу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fontAlgn="auto">
              <a:lnSpc>
                <a:spcPct val="115000"/>
              </a:lnSpc>
              <a:buClr>
                <a:schemeClr val="dk1"/>
              </a:buClr>
              <a:buFont typeface="Open Sans"/>
              <a:buChar char="●"/>
              <a:defRPr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Controllers / Views / Models: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обробка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запитів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формування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інтерфейсу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та робота з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даними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19460" name="Google Shape;101;p18">
            <a:extLst>
              <a:ext uri="{FF2B5EF4-FFF2-40B4-BE49-F238E27FC236}">
                <a16:creationId xmlns:a16="http://schemas.microsoft.com/office/drawing/2014/main" id="{81DEFC55-78CA-66DB-D8BD-6491CE4A1E7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1">
            <a:extLst>
              <a:ext uri="{FF2B5EF4-FFF2-40B4-BE49-F238E27FC236}">
                <a16:creationId xmlns:a16="http://schemas.microsoft.com/office/drawing/2014/main" id="{D4189FE8-E346-3873-F320-36171EDB1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CBD954DF-028D-43CE-891E-E72640EC32BF}" type="slidenum">
              <a:rPr lang="uk-UA" altLang="ru-RU"/>
              <a:pPr eaLnBrk="1" hangingPunct="1"/>
              <a:t>6</a:t>
            </a:fld>
            <a:endParaRPr lang="uk-UA" alt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106;p19">
            <a:extLst>
              <a:ext uri="{FF2B5EF4-FFF2-40B4-BE49-F238E27FC236}">
                <a16:creationId xmlns:a16="http://schemas.microsoft.com/office/drawing/2014/main" id="{EDF82BDC-1BA0-B19C-D4DE-AF3CC7688C1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11150" y="312738"/>
            <a:ext cx="8521700" cy="830262"/>
          </a:xfrm>
        </p:spPr>
        <p:txBody>
          <a:bodyPr>
            <a:normAutofit fontScale="90000"/>
          </a:bodyPr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>
                <a:latin typeface="Economica" charset="0"/>
                <a:cs typeface="Economica" charset="0"/>
                <a:sym typeface="Economica" charset="0"/>
              </a:rPr>
              <a:t>Опис програмного забезпечення, що було використано у дослідженні</a:t>
            </a:r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87999990-0932-527D-F774-8D27AE943A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77100"/>
            <a:ext cx="8520600" cy="3354000"/>
          </a:xfrm>
        </p:spPr>
        <p:txBody>
          <a:bodyPr/>
          <a:lstStyle/>
          <a:p>
            <a:pPr marL="0" indent="0" fontAlgn="auto">
              <a:lnSpc>
                <a:spcPct val="115000"/>
              </a:lnSpc>
              <a:spcBef>
                <a:spcPts val="1500"/>
              </a:spcBef>
              <a:buClr>
                <a:schemeClr val="dk1"/>
              </a:buClr>
              <a:buFont typeface="Open Sans"/>
              <a:buNone/>
              <a:defRPr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Visual Studio 2022 –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середовище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розробки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вебплатформи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C# –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основна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мова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програмування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застосунку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ASP.NET Core MVC –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реалізація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логіки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вебсистеми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Entity Framework Core –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взаємодія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з базою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даних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SQL Server –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зберігання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даних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користувачів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, речей та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оренд</a:t>
            </a:r>
            <a:b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HTML, CSS, Razor Views –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реалізація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користувацького</a:t>
            </a:r>
            <a:r>
              <a:rPr lang="ru-RU" sz="1800" dirty="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інтерфейсу</a:t>
            </a:r>
            <a:endParaRPr sz="1800" dirty="0">
              <a:solidFill>
                <a:schemeClr val="dk1"/>
              </a:solidFill>
              <a:latin typeface="Economica" panose="020B0604020202020204" charset="0"/>
              <a:ea typeface="Open Sans"/>
              <a:cs typeface="Open Sans"/>
              <a:sym typeface="Open Sans"/>
            </a:endParaRPr>
          </a:p>
        </p:txBody>
      </p:sp>
      <p:pic>
        <p:nvPicPr>
          <p:cNvPr id="21508" name="Google Shape;108;p19">
            <a:extLst>
              <a:ext uri="{FF2B5EF4-FFF2-40B4-BE49-F238E27FC236}">
                <a16:creationId xmlns:a16="http://schemas.microsoft.com/office/drawing/2014/main" id="{7F69A80D-EC15-51F7-E35A-A52956912ED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Box 1">
            <a:extLst>
              <a:ext uri="{FF2B5EF4-FFF2-40B4-BE49-F238E27FC236}">
                <a16:creationId xmlns:a16="http://schemas.microsoft.com/office/drawing/2014/main" id="{187C0BF3-5E61-53DC-A80F-3E1E032D2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D7F4F133-1EBA-45CB-9650-82051A02AFE9}" type="slidenum">
              <a:rPr lang="uk-UA" altLang="ru-RU"/>
              <a:pPr eaLnBrk="1" hangingPunct="1"/>
              <a:t>7</a:t>
            </a:fld>
            <a:endParaRPr lang="uk-UA" alt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113;p20">
            <a:extLst>
              <a:ext uri="{FF2B5EF4-FFF2-40B4-BE49-F238E27FC236}">
                <a16:creationId xmlns:a16="http://schemas.microsoft.com/office/drawing/2014/main" id="{A9725A10-FDFE-081E-F019-4E5849E0354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11150" y="-92075"/>
            <a:ext cx="8521700" cy="83185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>
                <a:latin typeface="Economica" charset="0"/>
                <a:cs typeface="Economica" charset="0"/>
                <a:sym typeface="Economica" charset="0"/>
              </a:rPr>
              <a:t>Дизайн системи</a:t>
            </a:r>
          </a:p>
        </p:txBody>
      </p:sp>
      <p:sp>
        <p:nvSpPr>
          <p:cNvPr id="23555" name="Google Shape;114;p20">
            <a:extLst>
              <a:ext uri="{FF2B5EF4-FFF2-40B4-BE49-F238E27FC236}">
                <a16:creationId xmlns:a16="http://schemas.microsoft.com/office/drawing/2014/main" id="{A6DF9463-B0EA-D194-F308-DBA3B06510B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284163" y="1225550"/>
            <a:ext cx="8520112" cy="3354388"/>
          </a:xfrm>
        </p:spPr>
        <p:txBody>
          <a:bodyPr/>
          <a:lstStyle/>
          <a:p>
            <a:pPr marL="114300" inden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ru-RU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• Архітектура вебплатформи – система побудована за принципом </a:t>
            </a:r>
            <a:r>
              <a:rPr lang="en-US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MVC, </a:t>
            </a:r>
            <a:r>
              <a:rPr lang="ru-RU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що забезпечує чітке розділення логіки, даних та інтерфейсу користувача, спрощує підтримку й масштабування застосунку.</a:t>
            </a:r>
          </a:p>
          <a:p>
            <a:pPr marL="114300" inden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ru-RU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• Логіка взаємодії користувача – процес роботи включає перегляд каталогу речей, вибір потрібного товару, авторизацію, оформлення оренди та перегляд власних замовлень.</a:t>
            </a:r>
          </a:p>
          <a:p>
            <a:pPr marL="114300" inden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ru-RU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• Технологічна реалізація – для створення системи використано </a:t>
            </a:r>
            <a:r>
              <a:rPr lang="en-US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ASP.NET Core MVC, C#, Entity Framework Core </a:t>
            </a:r>
            <a:r>
              <a:rPr lang="ru-RU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та </a:t>
            </a:r>
            <a:r>
              <a:rPr lang="en-US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SQL Server, </a:t>
            </a:r>
            <a:r>
              <a:rPr lang="ru-RU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а інтерфейс реалізовано за допомогою </a:t>
            </a:r>
            <a:r>
              <a:rPr lang="en-US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Razor Views, HTML </a:t>
            </a:r>
            <a:r>
              <a:rPr lang="ru-RU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і </a:t>
            </a:r>
            <a:r>
              <a:rPr lang="en-US" altLang="ru-RU" sz="18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CSS.</a:t>
            </a:r>
          </a:p>
        </p:txBody>
      </p:sp>
      <p:pic>
        <p:nvPicPr>
          <p:cNvPr id="23556" name="Google Shape;115;p20">
            <a:extLst>
              <a:ext uri="{FF2B5EF4-FFF2-40B4-BE49-F238E27FC236}">
                <a16:creationId xmlns:a16="http://schemas.microsoft.com/office/drawing/2014/main" id="{D71C2901-0C1D-9293-4401-0DE28471498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Box 1">
            <a:extLst>
              <a:ext uri="{FF2B5EF4-FFF2-40B4-BE49-F238E27FC236}">
                <a16:creationId xmlns:a16="http://schemas.microsoft.com/office/drawing/2014/main" id="{EACAE9A3-9F19-31C0-A326-03CE7D470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6ABB8864-B625-469D-9C1E-70274EBB2757}" type="slidenum">
              <a:rPr lang="uk-UA" altLang="ru-RU"/>
              <a:pPr eaLnBrk="1" hangingPunct="1"/>
              <a:t>8</a:t>
            </a:fld>
            <a:endParaRPr lang="uk-UA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120;p21">
            <a:extLst>
              <a:ext uri="{FF2B5EF4-FFF2-40B4-BE49-F238E27FC236}">
                <a16:creationId xmlns:a16="http://schemas.microsoft.com/office/drawing/2014/main" id="{EF0F5643-9490-9C2C-E45E-3030AD43697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68288" y="-152400"/>
            <a:ext cx="8521700" cy="8302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 dirty="0">
                <a:latin typeface="Economica" charset="0"/>
                <a:cs typeface="Economica" charset="0"/>
                <a:sym typeface="Economica" charset="0"/>
              </a:rPr>
              <a:t>Приклад </a:t>
            </a:r>
            <a:r>
              <a:rPr lang="ru-RU" altLang="ru-RU" sz="3200" dirty="0" err="1">
                <a:latin typeface="Economica" charset="0"/>
                <a:cs typeface="Economica" charset="0"/>
                <a:sym typeface="Economica" charset="0"/>
              </a:rPr>
              <a:t>реалізації</a:t>
            </a:r>
            <a:endParaRPr lang="ru-RU" altLang="ru-RU" sz="3200" dirty="0">
              <a:latin typeface="Economica" charset="0"/>
              <a:cs typeface="Economica" charset="0"/>
              <a:sym typeface="Economica" charset="0"/>
            </a:endParaRPr>
          </a:p>
        </p:txBody>
      </p:sp>
      <p:sp>
        <p:nvSpPr>
          <p:cNvPr id="121" name="Google Shape;121;p21">
            <a:extLst>
              <a:ext uri="{FF2B5EF4-FFF2-40B4-BE49-F238E27FC236}">
                <a16:creationId xmlns:a16="http://schemas.microsoft.com/office/drawing/2014/main" id="{FCEF3158-86B0-1A1C-8B77-FB88DBE5C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81675" y="677863"/>
            <a:ext cx="3008313" cy="3902075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var hasConflict = await _db.Rents.AnyAsync(r =&gt;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r.WearId == model.WearId &amp;&amp;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r.Status != "Cancelled" &amp;&amp;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model.StartDate &lt; r.EndDate &amp;&amp;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model.EndDate &gt; r.StartDate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);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endParaRPr lang="en-US" altLang="ru-RU" sz="900">
              <a:latin typeface="Open Sans" panose="020B0606030504020204" pitchFamily="34" charset="0"/>
              <a:cs typeface="Arial" panose="020B0604020202020204" pitchFamily="34" charset="0"/>
              <a:sym typeface="Open Sans" panose="020B0606030504020204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if (hasConflict)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{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ModelState.AddModelError("",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    "</a:t>
            </a:r>
            <a:r>
              <a:rPr lang="uk-UA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Ця річ уже зайнята на вибраний період.");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uk-UA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</a:t>
            </a: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return View(model);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endParaRPr lang="en-US" altLang="ru-RU" sz="900">
              <a:latin typeface="Open Sans" panose="020B0606030504020204" pitchFamily="34" charset="0"/>
              <a:cs typeface="Arial" panose="020B0604020202020204" pitchFamily="34" charset="0"/>
              <a:sym typeface="Open Sans" panose="020B0606030504020204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var days = Math.Max(1, (model.EndDate - model.StartDate).Days);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endParaRPr lang="en-US" altLang="ru-RU" sz="900">
              <a:latin typeface="Open Sans" panose="020B0606030504020204" pitchFamily="34" charset="0"/>
              <a:cs typeface="Arial" panose="020B0604020202020204" pitchFamily="34" charset="0"/>
              <a:sym typeface="Open Sans" panose="020B0606030504020204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_db.Rents.Add(new Rent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{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WearId = model.WearId,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ClientId = sessionUserId,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StartDate = model.StartDate,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EndDate = model.EndDate,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RentPrice = wear.Price * days,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    Status = "Pending"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});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endParaRPr lang="en-US" altLang="ru-RU" sz="900">
              <a:latin typeface="Open Sans" panose="020B0606030504020204" pitchFamily="34" charset="0"/>
              <a:cs typeface="Arial" panose="020B0604020202020204" pitchFamily="34" charset="0"/>
              <a:sym typeface="Open Sans" panose="020B0606030504020204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altLang="ru-RU" sz="900">
                <a:latin typeface="Open Sans" panose="020B0606030504020204" pitchFamily="34" charset="0"/>
                <a:cs typeface="Arial" panose="020B0604020202020204" pitchFamily="34" charset="0"/>
                <a:sym typeface="Open Sans" panose="020B0606030504020204" pitchFamily="34" charset="0"/>
              </a:rPr>
              <a:t>await _db.SaveChangesAsync();</a:t>
            </a:r>
            <a:endParaRPr lang="ru-RU" altLang="ru-RU" sz="900">
              <a:latin typeface="Economica" charset="0"/>
              <a:cs typeface="Arial" panose="020B0604020202020204" pitchFamily="34" charset="0"/>
              <a:sym typeface="Open Sans" panose="020B0606030504020204" pitchFamily="34" charset="0"/>
            </a:endParaRPr>
          </a:p>
        </p:txBody>
      </p:sp>
      <p:pic>
        <p:nvPicPr>
          <p:cNvPr id="25604" name="Google Shape;122;p21">
            <a:extLst>
              <a:ext uri="{FF2B5EF4-FFF2-40B4-BE49-F238E27FC236}">
                <a16:creationId xmlns:a16="http://schemas.microsoft.com/office/drawing/2014/main" id="{4FA8D5F1-7CD3-DD9B-B5CC-A4ADA09F54C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TextBox 1">
            <a:extLst>
              <a:ext uri="{FF2B5EF4-FFF2-40B4-BE49-F238E27FC236}">
                <a16:creationId xmlns:a16="http://schemas.microsoft.com/office/drawing/2014/main" id="{2E3DBBF0-4B64-02BB-818E-35ECDF43B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68FF2579-44B6-423E-A148-E31B4D2C8E2F}" type="slidenum">
              <a:rPr lang="uk-UA" altLang="ru-RU"/>
              <a:pPr eaLnBrk="1" hangingPunct="1"/>
              <a:t>9</a:t>
            </a:fld>
            <a:endParaRPr lang="uk-UA" altLang="ru-RU"/>
          </a:p>
        </p:txBody>
      </p:sp>
      <p:pic>
        <p:nvPicPr>
          <p:cNvPr id="25606" name="Рисунок 3">
            <a:extLst>
              <a:ext uri="{FF2B5EF4-FFF2-40B4-BE49-F238E27FC236}">
                <a16:creationId xmlns:a16="http://schemas.microsoft.com/office/drawing/2014/main" id="{CFFE9C70-CA3F-FB34-1499-AB186D96A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1" t="14616" r="9566" b="21515"/>
          <a:stretch>
            <a:fillRect/>
          </a:stretch>
        </p:blipFill>
        <p:spPr bwMode="auto">
          <a:xfrm>
            <a:off x="149225" y="744538"/>
            <a:ext cx="5438775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4212-14B3-082A-E6F2-B13E02EE9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120;p21">
            <a:extLst>
              <a:ext uri="{FF2B5EF4-FFF2-40B4-BE49-F238E27FC236}">
                <a16:creationId xmlns:a16="http://schemas.microsoft.com/office/drawing/2014/main" id="{85913802-7A83-7636-C550-243CCBA60B42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68288" y="-152400"/>
            <a:ext cx="8521700" cy="8302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Послідовності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процесу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оформлення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оренди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речі</a:t>
            </a:r>
            <a:endParaRPr lang="ru-RU" altLang="ru-RU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Economica" charset="0"/>
            </a:endParaRPr>
          </a:p>
        </p:txBody>
      </p:sp>
      <p:sp>
        <p:nvSpPr>
          <p:cNvPr id="121" name="Google Shape;121;p21">
            <a:extLst>
              <a:ext uri="{FF2B5EF4-FFF2-40B4-BE49-F238E27FC236}">
                <a16:creationId xmlns:a16="http://schemas.microsoft.com/office/drawing/2014/main" id="{3CAD759F-F2C4-3B5E-B61A-AE3C07ABB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15523" y="677863"/>
            <a:ext cx="3663352" cy="2447586"/>
          </a:xfrm>
        </p:spPr>
        <p:txBody>
          <a:bodyPr>
            <a:normAutofit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Діаграма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відображає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взаємодію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користувача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контролера, контексту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бази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SQL Server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час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створення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оренди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Перед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збереженням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бронювання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система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перевіряє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коректність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дат і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доступність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речі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вибраний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період</a:t>
            </a:r>
            <a:endParaRPr lang="ru-RU" alt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25604" name="Google Shape;122;p21">
            <a:extLst>
              <a:ext uri="{FF2B5EF4-FFF2-40B4-BE49-F238E27FC236}">
                <a16:creationId xmlns:a16="http://schemas.microsoft.com/office/drawing/2014/main" id="{E4D272E7-2337-83BC-EA0E-3AAA84E678C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TextBox 1">
            <a:extLst>
              <a:ext uri="{FF2B5EF4-FFF2-40B4-BE49-F238E27FC236}">
                <a16:creationId xmlns:a16="http://schemas.microsoft.com/office/drawing/2014/main" id="{822B52CE-B305-81FD-1F50-3853A2989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68FF2579-44B6-423E-A148-E31B4D2C8E2F}" type="slidenum">
              <a:rPr lang="uk-UA" altLang="ru-RU"/>
              <a:pPr eaLnBrk="1" hangingPunct="1"/>
              <a:t>10</a:t>
            </a:fld>
            <a:endParaRPr lang="uk-UA" alt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FFE2F7E-9D23-AA91-8FDF-8BAE3EDE8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7" y="677863"/>
            <a:ext cx="4700951" cy="4264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4590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127;p22">
            <a:extLst>
              <a:ext uri="{FF2B5EF4-FFF2-40B4-BE49-F238E27FC236}">
                <a16:creationId xmlns:a16="http://schemas.microsoft.com/office/drawing/2014/main" id="{4AA736C2-0FAF-0D24-E4C3-288BA3AD1FC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68288" y="-142875"/>
            <a:ext cx="8521700" cy="8302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 dirty="0" err="1">
                <a:latin typeface="Economica" charset="0"/>
                <a:cs typeface="Economica" charset="0"/>
                <a:sym typeface="Economica" charset="0"/>
              </a:rPr>
              <a:t>Інтерфейс</a:t>
            </a:r>
            <a:r>
              <a:rPr lang="ru-RU" altLang="ru-RU" sz="3200" dirty="0">
                <a:latin typeface="Economica" charset="0"/>
                <a:cs typeface="Economica" charset="0"/>
                <a:sym typeface="Economica" charset="0"/>
              </a:rPr>
              <a:t> </a:t>
            </a:r>
            <a:r>
              <a:rPr lang="ru-RU" altLang="ru-RU" sz="3200" dirty="0" err="1">
                <a:latin typeface="Economica" charset="0"/>
                <a:cs typeface="Economica" charset="0"/>
                <a:sym typeface="Economica" charset="0"/>
              </a:rPr>
              <a:t>користувача</a:t>
            </a:r>
            <a:r>
              <a:rPr lang="ru-RU" altLang="ru-RU" sz="3200" dirty="0">
                <a:latin typeface="Economica" charset="0"/>
                <a:cs typeface="Economica" charset="0"/>
                <a:sym typeface="Economica" charset="0"/>
              </a:rPr>
              <a:t> </a:t>
            </a:r>
          </a:p>
        </p:txBody>
      </p:sp>
      <p:sp>
        <p:nvSpPr>
          <p:cNvPr id="128" name="Google Shape;128;p22">
            <a:extLst>
              <a:ext uri="{FF2B5EF4-FFF2-40B4-BE49-F238E27FC236}">
                <a16:creationId xmlns:a16="http://schemas.microsoft.com/office/drawing/2014/main" id="{AF5787AC-B139-90AA-6F8E-1E053968D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48688" y="1225550"/>
            <a:ext cx="284162" cy="663575"/>
          </a:xfrm>
        </p:spPr>
        <p:txBody>
          <a:bodyPr>
            <a:normAutofit fontScale="47500" lnSpcReduction="20000"/>
          </a:bodyPr>
          <a:lstStyle/>
          <a:p>
            <a:pPr marL="0" indent="0" fontAlgn="auto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Clr>
                <a:schemeClr val="dk1"/>
              </a:buClr>
              <a:buFont typeface="Open Sans"/>
              <a:buNone/>
              <a:defRPr/>
            </a:pP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652" name="Google Shape;129;p22">
            <a:extLst>
              <a:ext uri="{FF2B5EF4-FFF2-40B4-BE49-F238E27FC236}">
                <a16:creationId xmlns:a16="http://schemas.microsoft.com/office/drawing/2014/main" id="{87A238AC-57F7-7555-D678-30836F67192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TextBox 1">
            <a:extLst>
              <a:ext uri="{FF2B5EF4-FFF2-40B4-BE49-F238E27FC236}">
                <a16:creationId xmlns:a16="http://schemas.microsoft.com/office/drawing/2014/main" id="{1C0C0189-7872-8832-1EDF-B4DA1DF8E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41BD773C-4F13-42FA-BA7C-6B7AA3693B9E}" type="slidenum">
              <a:rPr lang="uk-UA" altLang="ru-RU"/>
              <a:pPr eaLnBrk="1" hangingPunct="1"/>
              <a:t>11</a:t>
            </a:fld>
            <a:endParaRPr lang="uk-UA" altLang="ru-RU"/>
          </a:p>
        </p:txBody>
      </p:sp>
      <p:pic>
        <p:nvPicPr>
          <p:cNvPr id="27654" name="Рисунок 3">
            <a:extLst>
              <a:ext uri="{FF2B5EF4-FFF2-40B4-BE49-F238E27FC236}">
                <a16:creationId xmlns:a16="http://schemas.microsoft.com/office/drawing/2014/main" id="{476BD210-ABF6-57E9-48ED-37A612CFB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 t="14616" r="12074" b="6897"/>
          <a:stretch>
            <a:fillRect/>
          </a:stretch>
        </p:blipFill>
        <p:spPr bwMode="auto">
          <a:xfrm>
            <a:off x="328613" y="649288"/>
            <a:ext cx="4084637" cy="231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Рисунок 5">
            <a:extLst>
              <a:ext uri="{FF2B5EF4-FFF2-40B4-BE49-F238E27FC236}">
                <a16:creationId xmlns:a16="http://schemas.microsoft.com/office/drawing/2014/main" id="{9A868438-EA05-5D2D-009A-AB66B83DA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0" t="14880" r="14000" b="19801"/>
          <a:stretch>
            <a:fillRect/>
          </a:stretch>
        </p:blipFill>
        <p:spPr bwMode="auto">
          <a:xfrm>
            <a:off x="4413250" y="649288"/>
            <a:ext cx="4276725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Рисунок 7">
            <a:extLst>
              <a:ext uri="{FF2B5EF4-FFF2-40B4-BE49-F238E27FC236}">
                <a16:creationId xmlns:a16="http://schemas.microsoft.com/office/drawing/2014/main" id="{2389EA3F-87CF-E51B-BD15-88A92A240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9" t="14091" r="34550" b="30074"/>
          <a:stretch>
            <a:fillRect/>
          </a:stretch>
        </p:blipFill>
        <p:spPr bwMode="auto">
          <a:xfrm>
            <a:off x="328613" y="2727325"/>
            <a:ext cx="4110037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Рисунок 9">
            <a:extLst>
              <a:ext uri="{FF2B5EF4-FFF2-40B4-BE49-F238E27FC236}">
                <a16:creationId xmlns:a16="http://schemas.microsoft.com/office/drawing/2014/main" id="{943BBFCA-E00A-588F-1777-CF36E7BDB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0" t="14618" r="34740" b="33849"/>
          <a:stretch>
            <a:fillRect/>
          </a:stretch>
        </p:blipFill>
        <p:spPr bwMode="auto">
          <a:xfrm>
            <a:off x="4413250" y="2727325"/>
            <a:ext cx="4224338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127;p22">
            <a:extLst>
              <a:ext uri="{FF2B5EF4-FFF2-40B4-BE49-F238E27FC236}">
                <a16:creationId xmlns:a16="http://schemas.microsoft.com/office/drawing/2014/main" id="{DF09B5F5-BA66-F554-41F7-439DF8E36A3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68288" y="211138"/>
            <a:ext cx="8521700" cy="830262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>
                <a:latin typeface="Economica" charset="0"/>
                <a:cs typeface="Economica" charset="0"/>
                <a:sym typeface="Economica" charset="0"/>
              </a:rPr>
              <a:t>Тестування</a:t>
            </a:r>
          </a:p>
        </p:txBody>
      </p:sp>
      <p:sp>
        <p:nvSpPr>
          <p:cNvPr id="29699" name="Google Shape;128;p22">
            <a:extLst>
              <a:ext uri="{FF2B5EF4-FFF2-40B4-BE49-F238E27FC236}">
                <a16:creationId xmlns:a16="http://schemas.microsoft.com/office/drawing/2014/main" id="{2082DFDF-9CDA-6011-2359-72393C0CDCE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311150" y="1320800"/>
            <a:ext cx="8521700" cy="3259138"/>
          </a:xfr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Font typeface="Open Sans" panose="020B0606030504020204" pitchFamily="34" charset="0"/>
              <a:buNone/>
            </a:pPr>
            <a:endParaRPr lang="ru-RU" altLang="ru-RU" sz="1800">
              <a:latin typeface="Open Sans" panose="020B0606030504020204" pitchFamily="34" charset="0"/>
              <a:cs typeface="Arial" panose="020B0604020202020204" pitchFamily="34" charset="0"/>
              <a:sym typeface="Open Sans" panose="020B0606030504020204" pitchFamily="34" charset="0"/>
            </a:endParaRPr>
          </a:p>
        </p:txBody>
      </p:sp>
      <p:pic>
        <p:nvPicPr>
          <p:cNvPr id="29700" name="Google Shape;129;p22">
            <a:extLst>
              <a:ext uri="{FF2B5EF4-FFF2-40B4-BE49-F238E27FC236}">
                <a16:creationId xmlns:a16="http://schemas.microsoft.com/office/drawing/2014/main" id="{9E413399-3372-474A-C524-5DDB3F3C229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Box 1">
            <a:extLst>
              <a:ext uri="{FF2B5EF4-FFF2-40B4-BE49-F238E27FC236}">
                <a16:creationId xmlns:a16="http://schemas.microsoft.com/office/drawing/2014/main" id="{E96EEE98-2013-40D8-492F-F9B394FF1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136EDC1B-4A92-43A8-9112-010DFF32A951}" type="slidenum">
              <a:rPr lang="uk-UA" altLang="ru-RU"/>
              <a:pPr eaLnBrk="1" hangingPunct="1"/>
              <a:t>12</a:t>
            </a:fld>
            <a:endParaRPr lang="uk-UA" alt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7E93F02-98FE-8DA1-7DF9-1DEF8ED64AA3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2141538"/>
          <a:ext cx="8521700" cy="1524000"/>
        </p:xfrm>
        <a:graphic>
          <a:graphicData uri="http://schemas.openxmlformats.org/drawingml/2006/table">
            <a:tbl>
              <a:tblPr/>
              <a:tblGrid>
                <a:gridCol w="2840038">
                  <a:extLst>
                    <a:ext uri="{9D8B030D-6E8A-4147-A177-3AD203B41FA5}">
                      <a16:colId xmlns:a16="http://schemas.microsoft.com/office/drawing/2014/main" val="1200645589"/>
                    </a:ext>
                  </a:extLst>
                </a:gridCol>
                <a:gridCol w="2841625">
                  <a:extLst>
                    <a:ext uri="{9D8B030D-6E8A-4147-A177-3AD203B41FA5}">
                      <a16:colId xmlns:a16="http://schemas.microsoft.com/office/drawing/2014/main" val="114122443"/>
                    </a:ext>
                  </a:extLst>
                </a:gridCol>
                <a:gridCol w="2840037">
                  <a:extLst>
                    <a:ext uri="{9D8B030D-6E8A-4147-A177-3AD203B41FA5}">
                      <a16:colId xmlns:a16="http://schemas.microsoft.com/office/drawing/2014/main" val="3524599141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Функція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Очікуваний результат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Результат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388240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Авторизація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Успішний вхід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✓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310716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Оренда речі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Створення бронювання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✓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399135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Фільтрація каталогу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Коректне відображення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✓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978977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Доступ за ролями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Обмеження доступу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✓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1163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141;p24">
            <a:extLst>
              <a:ext uri="{FF2B5EF4-FFF2-40B4-BE49-F238E27FC236}">
                <a16:creationId xmlns:a16="http://schemas.microsoft.com/office/drawing/2014/main" id="{D93FB533-63EF-B6F9-1612-62BF67A133D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21872" y="228600"/>
            <a:ext cx="8521700" cy="8302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Economica" charset="0"/>
              <a:buNone/>
            </a:pPr>
            <a:r>
              <a:rPr lang="ru-RU" altLang="ru-RU" sz="3200" dirty="0" err="1">
                <a:latin typeface="Economica" charset="0"/>
                <a:cs typeface="Economica" charset="0"/>
                <a:sym typeface="Economica" charset="0"/>
              </a:rPr>
              <a:t>Підсумки</a:t>
            </a:r>
            <a:r>
              <a:rPr lang="ru-RU" altLang="ru-RU" sz="3200" dirty="0">
                <a:latin typeface="Economica" charset="0"/>
                <a:cs typeface="Economica" charset="0"/>
                <a:sym typeface="Economica" charset="0"/>
              </a:rPr>
              <a:t> </a:t>
            </a:r>
          </a:p>
        </p:txBody>
      </p:sp>
      <p:pic>
        <p:nvPicPr>
          <p:cNvPr id="31747" name="Google Shape;143;p24">
            <a:extLst>
              <a:ext uri="{FF2B5EF4-FFF2-40B4-BE49-F238E27FC236}">
                <a16:creationId xmlns:a16="http://schemas.microsoft.com/office/drawing/2014/main" id="{003D70C9-79FE-E93B-99D9-9BA743462A7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359275"/>
            <a:ext cx="8636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Box 1">
            <a:extLst>
              <a:ext uri="{FF2B5EF4-FFF2-40B4-BE49-F238E27FC236}">
                <a16:creationId xmlns:a16="http://schemas.microsoft.com/office/drawing/2014/main" id="{7875098D-698F-7684-C1F4-AC13C3A6A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5" y="4606925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fld id="{F85A3130-6C8C-48AB-8E08-0FD8A3952336}" type="slidenum">
              <a:rPr lang="uk-UA" altLang="ru-RU"/>
              <a:pPr eaLnBrk="1" hangingPunct="1"/>
              <a:t>13</a:t>
            </a:fld>
            <a:endParaRPr lang="uk-UA" altLang="ru-RU"/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21CBE2B0-97DB-AA64-35C5-E841B429A76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321872" y="1099978"/>
            <a:ext cx="8412163" cy="147732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ctr">
            <a:spAutoFit/>
          </a:bodyPr>
          <a:lstStyle/>
          <a:p>
            <a:pPr marL="0" indent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Open Sans" panose="020B0606030504020204" pitchFamily="34" charset="0"/>
              <a:buNone/>
            </a:pPr>
            <a:r>
              <a:rPr lang="ru-RU" sz="1800" dirty="0"/>
              <a:t>У </a:t>
            </a:r>
            <a:r>
              <a:rPr lang="ru-RU" sz="1800" dirty="0" err="1"/>
              <a:t>результаті</a:t>
            </a:r>
            <a:r>
              <a:rPr lang="ru-RU" sz="1800" dirty="0"/>
              <a:t> </a:t>
            </a:r>
            <a:r>
              <a:rPr lang="ru-RU" sz="1800" dirty="0" err="1"/>
              <a:t>роботи</a:t>
            </a:r>
            <a:r>
              <a:rPr lang="ru-RU" sz="1800" dirty="0"/>
              <a:t> </a:t>
            </a:r>
            <a:r>
              <a:rPr lang="ru-RU" sz="1800" dirty="0" err="1"/>
              <a:t>розроблено</a:t>
            </a:r>
            <a:r>
              <a:rPr lang="ru-RU" sz="1800" dirty="0"/>
              <a:t> </a:t>
            </a:r>
            <a:r>
              <a:rPr lang="ru-RU" sz="1800" dirty="0" err="1"/>
              <a:t>вебплатформу</a:t>
            </a:r>
            <a:r>
              <a:rPr lang="ru-RU" sz="1800" dirty="0"/>
              <a:t> </a:t>
            </a:r>
            <a:r>
              <a:rPr lang="ru-RU" sz="1800" dirty="0" err="1"/>
              <a:t>дистанційної</a:t>
            </a:r>
            <a:r>
              <a:rPr lang="ru-RU" sz="1800" dirty="0"/>
              <a:t> </a:t>
            </a:r>
            <a:r>
              <a:rPr lang="ru-RU" sz="1800" dirty="0" err="1"/>
              <a:t>оренди</a:t>
            </a:r>
            <a:r>
              <a:rPr lang="ru-RU" sz="1800" dirty="0"/>
              <a:t> речей. </a:t>
            </a:r>
            <a:r>
              <a:rPr lang="ru-RU" sz="1800" dirty="0" err="1"/>
              <a:t>Реалізовано</a:t>
            </a:r>
            <a:r>
              <a:rPr lang="ru-RU" sz="1800" dirty="0"/>
              <a:t> </a:t>
            </a:r>
            <a:r>
              <a:rPr lang="ru-RU" sz="1800" dirty="0" err="1"/>
              <a:t>реєстрацію</a:t>
            </a:r>
            <a:r>
              <a:rPr lang="ru-RU" sz="1800" dirty="0"/>
              <a:t> та </a:t>
            </a:r>
            <a:r>
              <a:rPr lang="ru-RU" sz="1800" dirty="0" err="1"/>
              <a:t>авторизацію</a:t>
            </a:r>
            <a:r>
              <a:rPr lang="ru-RU" sz="1800" dirty="0"/>
              <a:t> </a:t>
            </a:r>
            <a:r>
              <a:rPr lang="ru-RU" sz="1800" dirty="0" err="1"/>
              <a:t>користувачів</a:t>
            </a:r>
            <a:r>
              <a:rPr lang="ru-RU" sz="1800" dirty="0"/>
              <a:t>, перегляд каталогу й </a:t>
            </a:r>
            <a:r>
              <a:rPr lang="ru-RU" sz="1800" dirty="0" err="1"/>
              <a:t>оформлення</a:t>
            </a:r>
            <a:r>
              <a:rPr lang="ru-RU" sz="1800" dirty="0"/>
              <a:t> </a:t>
            </a:r>
            <a:r>
              <a:rPr lang="ru-RU" sz="1800" dirty="0" err="1"/>
              <a:t>оренди</a:t>
            </a:r>
            <a:r>
              <a:rPr lang="ru-RU" sz="1800" dirty="0"/>
              <a:t>. Система </a:t>
            </a:r>
            <a:r>
              <a:rPr lang="ru-RU" sz="1800" dirty="0" err="1"/>
              <a:t>забезпечує</a:t>
            </a:r>
            <a:r>
              <a:rPr lang="ru-RU" sz="1800" dirty="0"/>
              <a:t> </a:t>
            </a:r>
            <a:r>
              <a:rPr lang="ru-RU" sz="1800" dirty="0" err="1"/>
              <a:t>перевірку</a:t>
            </a:r>
            <a:r>
              <a:rPr lang="ru-RU" sz="1800" dirty="0"/>
              <a:t> </a:t>
            </a:r>
            <a:r>
              <a:rPr lang="ru-RU" sz="1800" dirty="0" err="1"/>
              <a:t>доступності</a:t>
            </a:r>
            <a:r>
              <a:rPr lang="ru-RU" sz="1800" dirty="0"/>
              <a:t> речей та </a:t>
            </a:r>
            <a:r>
              <a:rPr lang="ru-RU" sz="1800" dirty="0" err="1"/>
              <a:t>збереження</a:t>
            </a:r>
            <a:r>
              <a:rPr lang="ru-RU" sz="1800" dirty="0"/>
              <a:t> </a:t>
            </a:r>
            <a:r>
              <a:rPr lang="ru-RU" sz="1800" dirty="0" err="1"/>
              <a:t>даних</a:t>
            </a:r>
            <a:r>
              <a:rPr lang="ru-RU" sz="1800" dirty="0"/>
              <a:t> у </a:t>
            </a:r>
            <a:r>
              <a:rPr lang="ru-RU" sz="1800" dirty="0" err="1"/>
              <a:t>базі</a:t>
            </a:r>
            <a:r>
              <a:rPr lang="ru-RU" sz="1800" dirty="0"/>
              <a:t> </a:t>
            </a:r>
            <a:r>
              <a:rPr lang="en-US" sz="1800" dirty="0"/>
              <a:t>SQL Server. </a:t>
            </a:r>
            <a:r>
              <a:rPr lang="ru-RU" sz="1800" dirty="0" err="1"/>
              <a:t>Тестування</a:t>
            </a:r>
            <a:r>
              <a:rPr lang="ru-RU" sz="1800" dirty="0"/>
              <a:t> </a:t>
            </a:r>
            <a:r>
              <a:rPr lang="ru-RU" sz="1800" dirty="0" err="1"/>
              <a:t>підтвердило</a:t>
            </a:r>
            <a:r>
              <a:rPr lang="ru-RU" sz="1800" dirty="0"/>
              <a:t> </a:t>
            </a:r>
            <a:r>
              <a:rPr lang="ru-RU" sz="1800" dirty="0" err="1"/>
              <a:t>коректну</a:t>
            </a:r>
            <a:r>
              <a:rPr lang="ru-RU" sz="1800" dirty="0"/>
              <a:t> роботу основного </a:t>
            </a:r>
            <a:r>
              <a:rPr lang="ru-RU" sz="1800" dirty="0" err="1"/>
              <a:t>функціоналу</a:t>
            </a:r>
            <a:r>
              <a:rPr lang="ru-RU" sz="1800" dirty="0"/>
              <a:t> </a:t>
            </a:r>
            <a:r>
              <a:rPr lang="ru-RU" sz="1800" dirty="0" err="1"/>
              <a:t>вебзастосунку</a:t>
            </a:r>
            <a:r>
              <a:rPr lang="ru-RU" sz="1800" dirty="0"/>
              <a:t>.</a:t>
            </a: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2559</TotalTime>
  <Words>772</Words>
  <Application>Microsoft Office PowerPoint</Application>
  <PresentationFormat>Экран (16:9)</PresentationFormat>
  <Paragraphs>92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Open Sans</vt:lpstr>
      <vt:lpstr>Economica</vt:lpstr>
      <vt:lpstr>Шаблон презентації кваліфікаційної роботи магістрів</vt:lpstr>
      <vt:lpstr>Вебплатформа дистанційної оренди речей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Послідовності процесу оформлення оренди речі</vt:lpstr>
      <vt:lpstr>Інтерфейс користувача </vt:lpstr>
      <vt:lpstr>Тестування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sytnikpolina22@gmail.com</dc:creator>
  <cp:lastModifiedBy>sytnikpolina22@gmail.com</cp:lastModifiedBy>
  <cp:revision>6</cp:revision>
  <dcterms:created xsi:type="dcterms:W3CDTF">2026-05-31T17:00:02Z</dcterms:created>
  <dcterms:modified xsi:type="dcterms:W3CDTF">2026-06-08T18:01:37Z</dcterms:modified>
</cp:coreProperties>
</file>